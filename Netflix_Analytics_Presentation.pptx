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0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ET AMAN" userId="f4dd5577-102e-4981-9830-3a97bff820c3" providerId="ADAL" clId="{3A13594B-EDCE-4E50-8D3E-AB45D65F547A}"/>
    <pc:docChg chg="modSld sldOrd">
      <pc:chgData name="SAKET AMAN" userId="f4dd5577-102e-4981-9830-3a97bff820c3" providerId="ADAL" clId="{3A13594B-EDCE-4E50-8D3E-AB45D65F547A}" dt="2026-08-04T05:29:28.508" v="16"/>
      <pc:docMkLst>
        <pc:docMk/>
      </pc:docMkLst>
      <pc:sldChg chg="addSp modSp mod">
        <pc:chgData name="SAKET AMAN" userId="f4dd5577-102e-4981-9830-3a97bff820c3" providerId="ADAL" clId="{3A13594B-EDCE-4E50-8D3E-AB45D65F547A}" dt="2026-08-04T05:27:38.169" v="2" actId="14100"/>
        <pc:sldMkLst>
          <pc:docMk/>
          <pc:sldMk cId="0" sldId="256"/>
        </pc:sldMkLst>
        <pc:picChg chg="add mod">
          <ac:chgData name="SAKET AMAN" userId="f4dd5577-102e-4981-9830-3a97bff820c3" providerId="ADAL" clId="{3A13594B-EDCE-4E50-8D3E-AB45D65F547A}" dt="2026-08-04T05:27:38.169" v="2" actId="14100"/>
          <ac:picMkLst>
            <pc:docMk/>
            <pc:sldMk cId="0" sldId="256"/>
            <ac:picMk id="12" creationId="{7315FAA3-7ED1-4304-0A17-DCC319C75977}"/>
          </ac:picMkLst>
        </pc:picChg>
      </pc:sldChg>
      <pc:sldChg chg="addSp mod">
        <pc:chgData name="SAKET AMAN" userId="f4dd5577-102e-4981-9830-3a97bff820c3" providerId="ADAL" clId="{3A13594B-EDCE-4E50-8D3E-AB45D65F547A}" dt="2026-08-04T05:27:43.885" v="3" actId="22"/>
        <pc:sldMkLst>
          <pc:docMk/>
          <pc:sldMk cId="0" sldId="257"/>
        </pc:sldMkLst>
        <pc:picChg chg="add">
          <ac:chgData name="SAKET AMAN" userId="f4dd5577-102e-4981-9830-3a97bff820c3" providerId="ADAL" clId="{3A13594B-EDCE-4E50-8D3E-AB45D65F547A}" dt="2026-08-04T05:27:43.885" v="3" actId="22"/>
          <ac:picMkLst>
            <pc:docMk/>
            <pc:sldMk cId="0" sldId="257"/>
            <ac:picMk id="25" creationId="{1C3D77BA-1889-CEF4-CEC0-B85CF5BA3184}"/>
          </ac:picMkLst>
        </pc:picChg>
      </pc:sldChg>
      <pc:sldChg chg="addSp mod">
        <pc:chgData name="SAKET AMAN" userId="f4dd5577-102e-4981-9830-3a97bff820c3" providerId="ADAL" clId="{3A13594B-EDCE-4E50-8D3E-AB45D65F547A}" dt="2026-08-04T05:27:46.222" v="4" actId="22"/>
        <pc:sldMkLst>
          <pc:docMk/>
          <pc:sldMk cId="0" sldId="258"/>
        </pc:sldMkLst>
        <pc:picChg chg="add">
          <ac:chgData name="SAKET AMAN" userId="f4dd5577-102e-4981-9830-3a97bff820c3" providerId="ADAL" clId="{3A13594B-EDCE-4E50-8D3E-AB45D65F547A}" dt="2026-08-04T05:27:46.222" v="4" actId="22"/>
          <ac:picMkLst>
            <pc:docMk/>
            <pc:sldMk cId="0" sldId="258"/>
            <ac:picMk id="28" creationId="{DF1A9558-DA13-E031-A2DA-B0D9E52AD0AC}"/>
          </ac:picMkLst>
        </pc:picChg>
      </pc:sldChg>
      <pc:sldChg chg="addSp mod">
        <pc:chgData name="SAKET AMAN" userId="f4dd5577-102e-4981-9830-3a97bff820c3" providerId="ADAL" clId="{3A13594B-EDCE-4E50-8D3E-AB45D65F547A}" dt="2026-08-04T05:27:48.682" v="5" actId="22"/>
        <pc:sldMkLst>
          <pc:docMk/>
          <pc:sldMk cId="0" sldId="259"/>
        </pc:sldMkLst>
        <pc:picChg chg="add">
          <ac:chgData name="SAKET AMAN" userId="f4dd5577-102e-4981-9830-3a97bff820c3" providerId="ADAL" clId="{3A13594B-EDCE-4E50-8D3E-AB45D65F547A}" dt="2026-08-04T05:27:48.682" v="5" actId="22"/>
          <ac:picMkLst>
            <pc:docMk/>
            <pc:sldMk cId="0" sldId="259"/>
            <ac:picMk id="23" creationId="{24426F9E-EAB5-A9B2-343C-8CA53620C23D}"/>
          </ac:picMkLst>
        </pc:picChg>
      </pc:sldChg>
      <pc:sldChg chg="addSp mod ord">
        <pc:chgData name="SAKET AMAN" userId="f4dd5577-102e-4981-9830-3a97bff820c3" providerId="ADAL" clId="{3A13594B-EDCE-4E50-8D3E-AB45D65F547A}" dt="2026-08-04T05:29:28.508" v="16"/>
        <pc:sldMkLst>
          <pc:docMk/>
          <pc:sldMk cId="0" sldId="260"/>
        </pc:sldMkLst>
        <pc:picChg chg="add">
          <ac:chgData name="SAKET AMAN" userId="f4dd5577-102e-4981-9830-3a97bff820c3" providerId="ADAL" clId="{3A13594B-EDCE-4E50-8D3E-AB45D65F547A}" dt="2026-08-04T05:27:51.289" v="6" actId="22"/>
          <ac:picMkLst>
            <pc:docMk/>
            <pc:sldMk cId="0" sldId="260"/>
            <ac:picMk id="11" creationId="{ECECE8A3-7868-C2FE-CCFD-9AB646CB6532}"/>
          </ac:picMkLst>
        </pc:picChg>
      </pc:sldChg>
      <pc:sldChg chg="addSp mod">
        <pc:chgData name="SAKET AMAN" userId="f4dd5577-102e-4981-9830-3a97bff820c3" providerId="ADAL" clId="{3A13594B-EDCE-4E50-8D3E-AB45D65F547A}" dt="2026-08-04T05:27:58.065" v="7" actId="22"/>
        <pc:sldMkLst>
          <pc:docMk/>
          <pc:sldMk cId="0" sldId="261"/>
        </pc:sldMkLst>
        <pc:picChg chg="add">
          <ac:chgData name="SAKET AMAN" userId="f4dd5577-102e-4981-9830-3a97bff820c3" providerId="ADAL" clId="{3A13594B-EDCE-4E50-8D3E-AB45D65F547A}" dt="2026-08-04T05:27:58.065" v="7" actId="22"/>
          <ac:picMkLst>
            <pc:docMk/>
            <pc:sldMk cId="0" sldId="261"/>
            <ac:picMk id="15" creationId="{7062F238-1DA4-56C2-32AC-81DEA1F4CED4}"/>
          </ac:picMkLst>
        </pc:picChg>
      </pc:sldChg>
      <pc:sldChg chg="addSp mod">
        <pc:chgData name="SAKET AMAN" userId="f4dd5577-102e-4981-9830-3a97bff820c3" providerId="ADAL" clId="{3A13594B-EDCE-4E50-8D3E-AB45D65F547A}" dt="2026-08-04T05:28:00.544" v="8" actId="22"/>
        <pc:sldMkLst>
          <pc:docMk/>
          <pc:sldMk cId="0" sldId="262"/>
        </pc:sldMkLst>
        <pc:picChg chg="add">
          <ac:chgData name="SAKET AMAN" userId="f4dd5577-102e-4981-9830-3a97bff820c3" providerId="ADAL" clId="{3A13594B-EDCE-4E50-8D3E-AB45D65F547A}" dt="2026-08-04T05:28:00.544" v="8" actId="22"/>
          <ac:picMkLst>
            <pc:docMk/>
            <pc:sldMk cId="0" sldId="262"/>
            <ac:picMk id="6" creationId="{C125D8BD-92F7-B1CB-9671-1E030700C54F}"/>
          </ac:picMkLst>
        </pc:picChg>
      </pc:sldChg>
      <pc:sldChg chg="addSp mod">
        <pc:chgData name="SAKET AMAN" userId="f4dd5577-102e-4981-9830-3a97bff820c3" providerId="ADAL" clId="{3A13594B-EDCE-4E50-8D3E-AB45D65F547A}" dt="2026-08-04T05:28:03.106" v="9" actId="22"/>
        <pc:sldMkLst>
          <pc:docMk/>
          <pc:sldMk cId="0" sldId="263"/>
        </pc:sldMkLst>
        <pc:picChg chg="add">
          <ac:chgData name="SAKET AMAN" userId="f4dd5577-102e-4981-9830-3a97bff820c3" providerId="ADAL" clId="{3A13594B-EDCE-4E50-8D3E-AB45D65F547A}" dt="2026-08-04T05:28:03.106" v="9" actId="22"/>
          <ac:picMkLst>
            <pc:docMk/>
            <pc:sldMk cId="0" sldId="263"/>
            <ac:picMk id="7" creationId="{23B35CAC-894E-48BF-28EA-95D57D3495CF}"/>
          </ac:picMkLst>
        </pc:picChg>
      </pc:sldChg>
      <pc:sldChg chg="addSp mod">
        <pc:chgData name="SAKET AMAN" userId="f4dd5577-102e-4981-9830-3a97bff820c3" providerId="ADAL" clId="{3A13594B-EDCE-4E50-8D3E-AB45D65F547A}" dt="2026-08-04T05:28:05.252" v="10" actId="22"/>
        <pc:sldMkLst>
          <pc:docMk/>
          <pc:sldMk cId="0" sldId="264"/>
        </pc:sldMkLst>
        <pc:picChg chg="add">
          <ac:chgData name="SAKET AMAN" userId="f4dd5577-102e-4981-9830-3a97bff820c3" providerId="ADAL" clId="{3A13594B-EDCE-4E50-8D3E-AB45D65F547A}" dt="2026-08-04T05:28:05.252" v="10" actId="22"/>
          <ac:picMkLst>
            <pc:docMk/>
            <pc:sldMk cId="0" sldId="264"/>
            <ac:picMk id="15" creationId="{74683E00-2DC5-67F2-E272-47452704B522}"/>
          </ac:picMkLst>
        </pc:picChg>
      </pc:sldChg>
      <pc:sldChg chg="addSp mod">
        <pc:chgData name="SAKET AMAN" userId="f4dd5577-102e-4981-9830-3a97bff820c3" providerId="ADAL" clId="{3A13594B-EDCE-4E50-8D3E-AB45D65F547A}" dt="2026-08-04T05:28:07.506" v="11" actId="22"/>
        <pc:sldMkLst>
          <pc:docMk/>
          <pc:sldMk cId="0" sldId="265"/>
        </pc:sldMkLst>
        <pc:picChg chg="add">
          <ac:chgData name="SAKET AMAN" userId="f4dd5577-102e-4981-9830-3a97bff820c3" providerId="ADAL" clId="{3A13594B-EDCE-4E50-8D3E-AB45D65F547A}" dt="2026-08-04T05:28:07.506" v="11" actId="22"/>
          <ac:picMkLst>
            <pc:docMk/>
            <pc:sldMk cId="0" sldId="265"/>
            <ac:picMk id="7" creationId="{3FAEAD82-BB7D-7F88-DE1A-33267AB1C0A7}"/>
          </ac:picMkLst>
        </pc:picChg>
      </pc:sldChg>
      <pc:sldChg chg="addSp mod">
        <pc:chgData name="SAKET AMAN" userId="f4dd5577-102e-4981-9830-3a97bff820c3" providerId="ADAL" clId="{3A13594B-EDCE-4E50-8D3E-AB45D65F547A}" dt="2026-08-04T05:28:10.531" v="12" actId="22"/>
        <pc:sldMkLst>
          <pc:docMk/>
          <pc:sldMk cId="0" sldId="266"/>
        </pc:sldMkLst>
        <pc:picChg chg="add">
          <ac:chgData name="SAKET AMAN" userId="f4dd5577-102e-4981-9830-3a97bff820c3" providerId="ADAL" clId="{3A13594B-EDCE-4E50-8D3E-AB45D65F547A}" dt="2026-08-04T05:28:10.531" v="12" actId="22"/>
          <ac:picMkLst>
            <pc:docMk/>
            <pc:sldMk cId="0" sldId="266"/>
            <ac:picMk id="15" creationId="{EBD816E7-9563-4F52-8CE5-442FF9815534}"/>
          </ac:picMkLst>
        </pc:picChg>
      </pc:sldChg>
      <pc:sldChg chg="addSp mod">
        <pc:chgData name="SAKET AMAN" userId="f4dd5577-102e-4981-9830-3a97bff820c3" providerId="ADAL" clId="{3A13594B-EDCE-4E50-8D3E-AB45D65F547A}" dt="2026-08-04T05:28:14.002" v="13" actId="22"/>
        <pc:sldMkLst>
          <pc:docMk/>
          <pc:sldMk cId="0" sldId="267"/>
        </pc:sldMkLst>
        <pc:picChg chg="add">
          <ac:chgData name="SAKET AMAN" userId="f4dd5577-102e-4981-9830-3a97bff820c3" providerId="ADAL" clId="{3A13594B-EDCE-4E50-8D3E-AB45D65F547A}" dt="2026-08-04T05:28:14.002" v="13" actId="22"/>
          <ac:picMkLst>
            <pc:docMk/>
            <pc:sldMk cId="0" sldId="267"/>
            <ac:picMk id="25" creationId="{67403E0E-7A57-70CB-E6AC-83365C0C0A04}"/>
          </ac:picMkLst>
        </pc:picChg>
      </pc:sldChg>
      <pc:sldChg chg="addSp mod">
        <pc:chgData name="SAKET AMAN" userId="f4dd5577-102e-4981-9830-3a97bff820c3" providerId="ADAL" clId="{3A13594B-EDCE-4E50-8D3E-AB45D65F547A}" dt="2026-08-04T05:28:17.573" v="14" actId="22"/>
        <pc:sldMkLst>
          <pc:docMk/>
          <pc:sldMk cId="0" sldId="268"/>
        </pc:sldMkLst>
        <pc:picChg chg="add">
          <ac:chgData name="SAKET AMAN" userId="f4dd5577-102e-4981-9830-3a97bff820c3" providerId="ADAL" clId="{3A13594B-EDCE-4E50-8D3E-AB45D65F547A}" dt="2026-08-04T05:28:17.573" v="14" actId="22"/>
          <ac:picMkLst>
            <pc:docMk/>
            <pc:sldMk cId="0" sldId="268"/>
            <ac:picMk id="8" creationId="{3AB7C082-FBDA-A3B7-317B-1997F68BB7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Content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52-40BC-84D0-08A5F91240B7}"/>
              </c:ext>
            </c:extLst>
          </c:dPt>
          <c:dPt>
            <c:idx val="1"/>
            <c:bubble3D val="0"/>
            <c:spPr>
              <a:solidFill>
                <a:srgbClr val="2B2B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52-40BC-84D0-08A5F91240B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52-40BC-84D0-08A5F91240B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52-40BC-84D0-08A5F91240B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4007</c:v>
                </c:pt>
                <c:pt idx="1">
                  <c:v>1930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52-40BC-84D0-08A5F91240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4141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($M)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&quot;$&quot;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414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Music</c:v>
                </c:pt>
                <c:pt idx="1">
                  <c:v>Sci-Fi &amp; Fantasy</c:v>
                </c:pt>
                <c:pt idx="2">
                  <c:v>Romance</c:v>
                </c:pt>
                <c:pt idx="3">
                  <c:v>Comedy</c:v>
                </c:pt>
                <c:pt idx="4">
                  <c:v>Anime</c:v>
                </c:pt>
                <c:pt idx="5">
                  <c:v>Drama</c:v>
                </c:pt>
                <c:pt idx="6">
                  <c:v>Action &amp; Adv.</c:v>
                </c:pt>
                <c:pt idx="7">
                  <c:v>Kids &amp; Family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16.72</c:v>
                </c:pt>
                <c:pt idx="1">
                  <c:v>16.399999999999999</c:v>
                </c:pt>
                <c:pt idx="2">
                  <c:v>13.19</c:v>
                </c:pt>
                <c:pt idx="3">
                  <c:v>12.31</c:v>
                </c:pt>
                <c:pt idx="4">
                  <c:v>11.69</c:v>
                </c:pt>
                <c:pt idx="5">
                  <c:v>11.64</c:v>
                </c:pt>
                <c:pt idx="6">
                  <c:v>11.45</c:v>
                </c:pt>
                <c:pt idx="7">
                  <c:v>11.12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27-4955-ABF5-E6551069AF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Avg Box Revenue ($M)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IMDb Rating</c:v>
                </c:pt>
              </c:strCache>
            </c:strRef>
          </c:tx>
          <c:spPr>
            <a:solidFill>
              <a:srgbClr val="8C061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AC-411C-BEC1-E269DC97495F}"/>
              </c:ext>
            </c:extLst>
          </c:dPt>
          <c:dPt>
            <c:idx val="1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AC-411C-BEC1-E269DC97495F}"/>
              </c:ext>
            </c:extLst>
          </c:dPt>
          <c:dPt>
            <c:idx val="2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AC-411C-BEC1-E269DC97495F}"/>
              </c:ext>
            </c:extLst>
          </c:dPt>
          <c:dPt>
            <c:idx val="3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AC-411C-BEC1-E269DC97495F}"/>
              </c:ext>
            </c:extLst>
          </c:dPt>
          <c:dPt>
            <c:idx val="4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0AC-411C-BEC1-E269DC97495F}"/>
              </c:ext>
            </c:extLst>
          </c:dPt>
          <c:dPt>
            <c:idx val="5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0AC-411C-BEC1-E269DC97495F}"/>
              </c:ext>
            </c:extLst>
          </c:dPt>
          <c:dPt>
            <c:idx val="6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0AC-411C-BEC1-E269DC97495F}"/>
              </c:ext>
            </c:extLst>
          </c:dPt>
          <c:dPt>
            <c:idx val="7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0AC-411C-BEC1-E269DC97495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414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Sports</c:v>
                </c:pt>
                <c:pt idx="1">
                  <c:v>Comedy</c:v>
                </c:pt>
                <c:pt idx="2">
                  <c:v>Drama</c:v>
                </c:pt>
                <c:pt idx="3">
                  <c:v>Crime</c:v>
                </c:pt>
                <c:pt idx="4">
                  <c:v>Kids &amp; Family</c:v>
                </c:pt>
                <c:pt idx="5">
                  <c:v>Action &amp; Adv.</c:v>
                </c:pt>
                <c:pt idx="6">
                  <c:v>Horror</c:v>
                </c:pt>
                <c:pt idx="7">
                  <c:v>Romance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5.9</c:v>
                </c:pt>
                <c:pt idx="1">
                  <c:v>6.47</c:v>
                </c:pt>
                <c:pt idx="2">
                  <c:v>6.49</c:v>
                </c:pt>
                <c:pt idx="3">
                  <c:v>6.54</c:v>
                </c:pt>
                <c:pt idx="4">
                  <c:v>6.56</c:v>
                </c:pt>
                <c:pt idx="5">
                  <c:v>6.58</c:v>
                </c:pt>
                <c:pt idx="6">
                  <c:v>6.59</c:v>
                </c:pt>
                <c:pt idx="7">
                  <c:v>6.63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0AC-411C-BEC1-E269DC9749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8"/>
          <c:min val="5.5"/>
        </c:scaling>
        <c:delete val="0"/>
        <c:axPos val="b"/>
        <c:majorGridlines>
          <c:spPr>
            <a:ln w="12700" cap="flat">
              <a:solidFill>
                <a:srgbClr val="E8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Mexico</c:v>
                </c:pt>
                <c:pt idx="1">
                  <c:v>Germany</c:v>
                </c:pt>
                <c:pt idx="2">
                  <c:v>South Korea</c:v>
                </c:pt>
                <c:pt idx="3">
                  <c:v>Spain</c:v>
                </c:pt>
                <c:pt idx="4">
                  <c:v>Japan</c:v>
                </c:pt>
                <c:pt idx="5">
                  <c:v>France</c:v>
                </c:pt>
                <c:pt idx="6">
                  <c:v>Canada</c:v>
                </c:pt>
                <c:pt idx="7">
                  <c:v>United Kingdom</c:v>
                </c:pt>
                <c:pt idx="8">
                  <c:v>India</c:v>
                </c:pt>
                <c:pt idx="9">
                  <c:v>United States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126</c:v>
                </c:pt>
                <c:pt idx="1">
                  <c:v>138</c:v>
                </c:pt>
                <c:pt idx="2">
                  <c:v>163</c:v>
                </c:pt>
                <c:pt idx="3">
                  <c:v>178</c:v>
                </c:pt>
                <c:pt idx="4">
                  <c:v>222</c:v>
                </c:pt>
                <c:pt idx="5">
                  <c:v>259</c:v>
                </c:pt>
                <c:pt idx="6">
                  <c:v>300</c:v>
                </c:pt>
                <c:pt idx="7">
                  <c:v>564</c:v>
                </c:pt>
                <c:pt idx="8">
                  <c:v>793</c:v>
                </c:pt>
                <c:pt idx="9">
                  <c:v>2432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76-498E-B3DF-39D56A0939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8E8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8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41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Added</c:v>
                </c:pt>
              </c:strCache>
            </c:strRef>
          </c:tx>
          <c:spPr>
            <a:solidFill>
              <a:srgbClr val="E50914">
                <a:alpha val="35000"/>
              </a:srgbClr>
            </a:solidFill>
            <a:effectLst/>
          </c:spPr>
          <c:cat>
            <c:strRef>
              <c:f>Sheet1!$A$2:$A$10</c:f>
              <c:strCache>
                <c:ptCount val="9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</c:v>
                </c:pt>
                <c:pt idx="1">
                  <c:v>7</c:v>
                </c:pt>
                <c:pt idx="2">
                  <c:v>9</c:v>
                </c:pt>
                <c:pt idx="3">
                  <c:v>19</c:v>
                </c:pt>
                <c:pt idx="4">
                  <c:v>74</c:v>
                </c:pt>
                <c:pt idx="5">
                  <c:v>412</c:v>
                </c:pt>
                <c:pt idx="6">
                  <c:v>1184</c:v>
                </c:pt>
                <c:pt idx="7">
                  <c:v>1629</c:v>
                </c:pt>
                <c:pt idx="8">
                  <c:v>1843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D6-4325-B0AF-FD52B7C406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Availability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562-4267-8CA8-E2AFBCE4A0C4}"/>
              </c:ext>
            </c:extLst>
          </c:dPt>
          <c:dPt>
            <c:idx val="1"/>
            <c:bubble3D val="0"/>
            <c:spPr>
              <a:solidFill>
                <a:srgbClr val="2B2B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62-4267-8CA8-E2AFBCE4A0C4}"/>
              </c:ext>
            </c:extLst>
          </c:dPt>
          <c:dPt>
            <c:idx val="2"/>
            <c:bubble3D val="0"/>
            <c:spPr>
              <a:solidFill>
                <a:srgbClr val="8A8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62-4267-8CA8-E2AFBCE4A0C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562-4267-8CA8-E2AFBCE4A0C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562-4267-8CA8-E2AFBCE4A0C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562-4267-8CA8-E2AFBCE4A0C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Available</c:v>
                </c:pt>
                <c:pt idx="1">
                  <c:v>Removed</c:v>
                </c:pt>
                <c:pt idx="2">
                  <c:v>Leaving Soon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4855</c:v>
                </c:pt>
                <c:pt idx="1">
                  <c:v>724</c:v>
                </c:pt>
                <c:pt idx="2">
                  <c:v>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562-4267-8CA8-E2AFBCE4A0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4141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645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T F L I X   C O N T E N T   A N A L Y T I C 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725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Exploring the Netflix Catalog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capstone project on the Netflix global catalog — 5,937 titles, 111 countries, cleaned in Excel and visualized in Power BI.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800600"/>
            <a:ext cx="539496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B2B2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49560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Saket Aman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5349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Sourish Mukherjee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Microsoft Excel   |   Dashboarding: Power BI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15FAA3-7ED1-4304-0A17-DCC319C75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We Built This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09928"/>
            <a:ext cx="585216" cy="585216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099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8" dirty="0"/>
          </a:p>
        </p:txBody>
      </p:sp>
      <p:sp>
        <p:nvSpPr>
          <p:cNvPr id="7" name="Text 5"/>
          <p:cNvSpPr/>
          <p:nvPr/>
        </p:nvSpPr>
        <p:spPr>
          <a:xfrm>
            <a:off x="173736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Understand the Catalog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194767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5,937 Netflix titles by genre, type, rating and revenue to see what actually makes up the platform.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11064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3044952"/>
            <a:ext cx="585216" cy="585216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0449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8" dirty="0"/>
          </a:p>
        </p:txBody>
      </p:sp>
      <p:sp>
        <p:nvSpPr>
          <p:cNvPr id="12" name="Text 10"/>
          <p:cNvSpPr/>
          <p:nvPr/>
        </p:nvSpPr>
        <p:spPr>
          <a:xfrm>
            <a:off x="1737360" y="28895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Track Content Health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28269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what's Available, Leaving Soon or Removed — and whether quality plays a role in what gets pulled.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87368"/>
            <a:ext cx="11064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379976"/>
            <a:ext cx="585216" cy="585216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37997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8" dirty="0"/>
          </a:p>
        </p:txBody>
      </p:sp>
      <p:sp>
        <p:nvSpPr>
          <p:cNvPr id="17" name="Text 15"/>
          <p:cNvSpPr/>
          <p:nvPr/>
        </p:nvSpPr>
        <p:spPr>
          <a:xfrm>
            <a:off x="1737360" y="4224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Reveal Global Reach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46177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production countries to show how far beyond the US Netflix's content engine really runs.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422392"/>
            <a:ext cx="11064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5715000"/>
            <a:ext cx="585216" cy="585216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571500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8" dirty="0"/>
          </a:p>
        </p:txBody>
      </p:sp>
      <p:sp>
        <p:nvSpPr>
          <p:cNvPr id="22" name="Text 20"/>
          <p:cNvSpPr/>
          <p:nvPr/>
        </p:nvSpPr>
        <p:spPr>
          <a:xfrm>
            <a:off x="1737360" y="5559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Turn Data into a Tool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37360" y="595274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everything into a single interactive Power BI dashboard that answers questions in seconds, not spreadsheets.</a:t>
            </a:r>
            <a:endParaRPr lang="en-US" sz="12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C3D77BA-1889-CEF4-CEC0-B85CF5BA3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Pipeline: Excel to Power BI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3566160"/>
          </a:xfrm>
          <a:prstGeom prst="rect">
            <a:avLst/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14600" cy="77724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Raw 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catalog export — 5,937 rows x 15 fields: titles, cast, country, ratings, revenue, availability.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44952" y="33375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514600" cy="3566160"/>
          </a:xfrm>
          <a:prstGeom prst="rect">
            <a:avLst/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2514600" cy="77724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2788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Excel Cleaning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32918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nulls in director/cast/country, standardized dates, split multi-value fields, parsed duration into minutes &amp; seasons.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79592" y="33375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17920" y="1874520"/>
            <a:ext cx="2514600" cy="3566160"/>
          </a:xfrm>
          <a:prstGeom prst="rect">
            <a:avLst/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874520"/>
            <a:ext cx="2514600" cy="77724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9202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00800" y="2788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Power BI Modeling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2918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measures (Avg Revenue, Avg Rating), relationships and DAX calculations on top of the cleaned table.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14232" y="33375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052560" y="1874520"/>
            <a:ext cx="2514600" cy="3566160"/>
          </a:xfrm>
          <a:prstGeom prst="rect">
            <a:avLst/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52560" y="1874520"/>
            <a:ext cx="2514600" cy="77724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052560" y="19202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235440" y="2788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Interactive Dashboard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35440" y="329184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KPI cards, genre/country breakdowns, director rankings and a year-over-year trend view.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F1A9558-DA13-E031-A2DA-B0D9E52AD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Were Working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204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5,837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8288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0914"/>
                </a:solidFill>
                <a:latin typeface="Bookman Old Style" pitchFamily="34" charset="0"/>
              </a:rPr>
              <a:t>528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63440" y="27432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REPRESENTED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2440" y="1600200"/>
            <a:ext cx="35204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0" y="18288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12480" y="27432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794760"/>
            <a:ext cx="35204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1925–2026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 SPAN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3794760"/>
            <a:ext cx="35204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40233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3,939 / 1,898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63440" y="4937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/ TV SHOWS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3794760"/>
            <a:ext cx="35204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0" y="40233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6.51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412480" y="4937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IMDB RATING</a:t>
            </a:r>
            <a:endParaRPr lang="en-US" sz="12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4426F9E-EAB5-A9B2-343C-8CA53620C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Movies Dominate the Catalog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51206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73736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8470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67.5%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0" y="2240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titles are Movies (4,007) — more than double the TV Show count.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315468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3264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32.5%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0" y="3657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TV Shows (1,930), skewing heavily toward single-season releases.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457200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4681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00800" y="5074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and licensing strategy should weight movie decisions more heavily — they drive both catalog volume and revenue.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62F238-1DA4-56C2-32AC-81DEA1F4C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Niche Genres Earn More Per Title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110642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125D8BD-92F7-B1CB-9671-1E030700C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Ratings Are Remarkably Even Across Genres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110642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(5.90) is the one clear outlier — every other genre clusters within half a point of the 6.51 catalog average.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B35CAC-894E-48BF-28EA-95D57D349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Global Catalog, US-Anchored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315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737360"/>
            <a:ext cx="3474720" cy="141732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41248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412480" y="235915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contribute at least one title to the catalog.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183880" y="3383280"/>
            <a:ext cx="3474720" cy="141732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412480" y="3520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41%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412480" y="40050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titles originate in the United States — the largest single source.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83880" y="5029200"/>
            <a:ext cx="3474720" cy="141732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412480" y="5166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India + UK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412480" y="56509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 strong secondary hub, together outpacing every other country combined outside the US.</a:t>
            </a:r>
            <a:endParaRPr lang="en-US" sz="11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683E00-2DC5-67F2-E272-47452704B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Acquisitions Surged 2015–2019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11064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74 titles added in 2015 to 1,843 in 2019 — a 24x jump, tracking Netflix's global content-investment ramp-up. (2020–2026 records are sparse in this extract and excluded here for a clean read.)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AEAD82-BB7D-7F88-DE1A-33267AB1C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in 5 Titles Has Left — or Is Leaving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51206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73736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8470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81.8%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0" y="2240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catalog (4,855 titles) is currently Available.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315468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3264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18.2%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0" y="3657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already left or is scheduled to — 724 Removed, 358 Leaving Soon.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4572000"/>
            <a:ext cx="5486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4681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a quality issue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00800" y="5074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titles average 6.57 and Leaving Soon titles average 6.60 — both above the platform average. Churn tracks licensing, not ratings.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D816E7-9563-4F52-8CE5-442FF9815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Everything, on One Screen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0372" y="1051263"/>
            <a:ext cx="10808208" cy="5806737"/>
          </a:xfrm>
          <a:prstGeom prst="rect">
            <a:avLst/>
          </a:prstGeom>
          <a:solidFill>
            <a:srgbClr val="2B2B2B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5236" y="1371601"/>
            <a:ext cx="10698480" cy="54864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5236" y="429359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to be added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799282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Power BI — KPI cards, genre/revenue chart, director ranking, year trend and country breakdown, all cross-filtered live.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50D6BB-F0BA-5C6A-D5C8-8A6E46AD8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263"/>
            <a:ext cx="10698480" cy="5806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ECE8A3-7868-C2FE-CCFD-9AB646CB6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Recommendations for the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Label revenue clearly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Revenue KPI as movie-only, since TV shows currently show $0 by design, not by underperformance.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214884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7269480" y="1856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Add a churn trend 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Removed / Leaving Soon over time — ratings show it isn't quality-driven, so licensing patterns are the real story.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214884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554480" y="43251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Replace the map, for now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disabled map visual for a Top-15 country bar chart — same insight, zero dependency on the map security setting.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349240" cy="214884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434340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7269480" y="43251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Investigate the 2020–21 gap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498348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the drop in that window is a real slowdown or a gap in the source export before presenting it as a trend.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7403E0E-7A57-70CB-E6AC-83365C0C0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297680"/>
            <a:ext cx="539496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Saket Aman   ·   Sourish Mukherjee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4892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Analytics — Excel + Power BI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B7C082-FBDA-A3B7-317B-1997F68BB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246" y="9526"/>
            <a:ext cx="1884706" cy="5509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776</Words>
  <Application>Microsoft Office PowerPoint</Application>
  <PresentationFormat>Widescreen</PresentationFormat>
  <Paragraphs>125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SAKET AMAN</cp:lastModifiedBy>
  <cp:revision>2</cp:revision>
  <dcterms:created xsi:type="dcterms:W3CDTF">2026-08-03T18:39:04Z</dcterms:created>
  <dcterms:modified xsi:type="dcterms:W3CDTF">2026-08-04T05:29:37Z</dcterms:modified>
</cp:coreProperties>
</file>