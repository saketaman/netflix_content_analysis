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notesSlides/notesSlide10.xml" ContentType="application/vnd.openxmlformats-officedocument.presentationml.notesSlide+xml"/>
  <Override PartName="/ppt/charts/chart6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0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KET AMAN" userId="f4dd5577-102e-4981-9830-3a97bff820c3" providerId="ADAL" clId="{3A13594B-EDCE-4E50-8D3E-AB45D65F547A}"/>
    <pc:docChg chg="custSel delSld modSld sldOrd">
      <pc:chgData name="SAKET AMAN" userId="f4dd5577-102e-4981-9830-3a97bff820c3" providerId="ADAL" clId="{3A13594B-EDCE-4E50-8D3E-AB45D65F547A}" dt="2026-08-04T06:52:08.181" v="79" actId="47"/>
      <pc:docMkLst>
        <pc:docMk/>
      </pc:docMkLst>
      <pc:sldChg chg="addSp modSp mod">
        <pc:chgData name="SAKET AMAN" userId="f4dd5577-102e-4981-9830-3a97bff820c3" providerId="ADAL" clId="{3A13594B-EDCE-4E50-8D3E-AB45D65F547A}" dt="2026-08-04T06:45:30.185" v="40" actId="20577"/>
        <pc:sldMkLst>
          <pc:docMk/>
          <pc:sldMk cId="0" sldId="256"/>
        </pc:sldMkLst>
        <pc:spChg chg="mod">
          <ac:chgData name="SAKET AMAN" userId="f4dd5577-102e-4981-9830-3a97bff820c3" providerId="ADAL" clId="{3A13594B-EDCE-4E50-8D3E-AB45D65F547A}" dt="2026-08-04T06:45:30.185" v="40" actId="20577"/>
          <ac:spMkLst>
            <pc:docMk/>
            <pc:sldMk cId="0" sldId="256"/>
            <ac:spMk id="5" creationId="{00000000-0000-0000-0000-000000000000}"/>
          </ac:spMkLst>
        </pc:spChg>
        <pc:picChg chg="add mod">
          <ac:chgData name="SAKET AMAN" userId="f4dd5577-102e-4981-9830-3a97bff820c3" providerId="ADAL" clId="{3A13594B-EDCE-4E50-8D3E-AB45D65F547A}" dt="2026-08-04T05:27:38.169" v="2" actId="14100"/>
          <ac:picMkLst>
            <pc:docMk/>
            <pc:sldMk cId="0" sldId="256"/>
            <ac:picMk id="12" creationId="{7315FAA3-7ED1-4304-0A17-DCC319C75977}"/>
          </ac:picMkLst>
        </pc:picChg>
      </pc:sldChg>
      <pc:sldChg chg="addSp modSp mod">
        <pc:chgData name="SAKET AMAN" userId="f4dd5577-102e-4981-9830-3a97bff820c3" providerId="ADAL" clId="{3A13594B-EDCE-4E50-8D3E-AB45D65F547A}" dt="2026-08-04T06:46:16.543" v="44" actId="20577"/>
        <pc:sldMkLst>
          <pc:docMk/>
          <pc:sldMk cId="0" sldId="257"/>
        </pc:sldMkLst>
        <pc:spChg chg="mod">
          <ac:chgData name="SAKET AMAN" userId="f4dd5577-102e-4981-9830-3a97bff820c3" providerId="ADAL" clId="{3A13594B-EDCE-4E50-8D3E-AB45D65F547A}" dt="2026-08-04T06:46:16.543" v="44" actId="20577"/>
          <ac:spMkLst>
            <pc:docMk/>
            <pc:sldMk cId="0" sldId="257"/>
            <ac:spMk id="8" creationId="{00000000-0000-0000-0000-000000000000}"/>
          </ac:spMkLst>
        </pc:spChg>
        <pc:picChg chg="add">
          <ac:chgData name="SAKET AMAN" userId="f4dd5577-102e-4981-9830-3a97bff820c3" providerId="ADAL" clId="{3A13594B-EDCE-4E50-8D3E-AB45D65F547A}" dt="2026-08-04T05:27:43.885" v="3" actId="22"/>
          <ac:picMkLst>
            <pc:docMk/>
            <pc:sldMk cId="0" sldId="257"/>
            <ac:picMk id="25" creationId="{1C3D77BA-1889-CEF4-CEC0-B85CF5BA3184}"/>
          </ac:picMkLst>
        </pc:picChg>
      </pc:sldChg>
      <pc:sldChg chg="addSp modSp mod">
        <pc:chgData name="SAKET AMAN" userId="f4dd5577-102e-4981-9830-3a97bff820c3" providerId="ADAL" clId="{3A13594B-EDCE-4E50-8D3E-AB45D65F547A}" dt="2026-08-04T06:45:46.160" v="42" actId="20577"/>
        <pc:sldMkLst>
          <pc:docMk/>
          <pc:sldMk cId="0" sldId="258"/>
        </pc:sldMkLst>
        <pc:spChg chg="mod">
          <ac:chgData name="SAKET AMAN" userId="f4dd5577-102e-4981-9830-3a97bff820c3" providerId="ADAL" clId="{3A13594B-EDCE-4E50-8D3E-AB45D65F547A}" dt="2026-08-04T06:45:46.160" v="42" actId="20577"/>
          <ac:spMkLst>
            <pc:docMk/>
            <pc:sldMk cId="0" sldId="258"/>
            <ac:spMk id="8" creationId="{00000000-0000-0000-0000-000000000000}"/>
          </ac:spMkLst>
        </pc:spChg>
        <pc:picChg chg="add">
          <ac:chgData name="SAKET AMAN" userId="f4dd5577-102e-4981-9830-3a97bff820c3" providerId="ADAL" clId="{3A13594B-EDCE-4E50-8D3E-AB45D65F547A}" dt="2026-08-04T05:27:46.222" v="4" actId="22"/>
          <ac:picMkLst>
            <pc:docMk/>
            <pc:sldMk cId="0" sldId="258"/>
            <ac:picMk id="28" creationId="{DF1A9558-DA13-E031-A2DA-B0D9E52AD0AC}"/>
          </ac:picMkLst>
        </pc:picChg>
      </pc:sldChg>
      <pc:sldChg chg="addSp modSp mod">
        <pc:chgData name="SAKET AMAN" userId="f4dd5577-102e-4981-9830-3a97bff820c3" providerId="ADAL" clId="{3A13594B-EDCE-4E50-8D3E-AB45D65F547A}" dt="2026-08-04T06:45:21.801" v="35" actId="20577"/>
        <pc:sldMkLst>
          <pc:docMk/>
          <pc:sldMk cId="0" sldId="259"/>
        </pc:sldMkLst>
        <pc:spChg chg="mod">
          <ac:chgData name="SAKET AMAN" userId="f4dd5577-102e-4981-9830-3a97bff820c3" providerId="ADAL" clId="{3A13594B-EDCE-4E50-8D3E-AB45D65F547A}" dt="2026-08-04T06:45:21.801" v="35" actId="20577"/>
          <ac:spMkLst>
            <pc:docMk/>
            <pc:sldMk cId="0" sldId="259"/>
            <ac:spMk id="8" creationId="{00000000-0000-0000-0000-000000000000}"/>
          </ac:spMkLst>
        </pc:spChg>
        <pc:picChg chg="add">
          <ac:chgData name="SAKET AMAN" userId="f4dd5577-102e-4981-9830-3a97bff820c3" providerId="ADAL" clId="{3A13594B-EDCE-4E50-8D3E-AB45D65F547A}" dt="2026-08-04T05:27:48.682" v="5" actId="22"/>
          <ac:picMkLst>
            <pc:docMk/>
            <pc:sldMk cId="0" sldId="259"/>
            <ac:picMk id="23" creationId="{24426F9E-EAB5-A9B2-343C-8CA53620C23D}"/>
          </ac:picMkLst>
        </pc:picChg>
      </pc:sldChg>
      <pc:sldChg chg="addSp delSp modSp mod ord">
        <pc:chgData name="SAKET AMAN" userId="f4dd5577-102e-4981-9830-3a97bff820c3" providerId="ADAL" clId="{3A13594B-EDCE-4E50-8D3E-AB45D65F547A}" dt="2026-08-04T06:50:45.699" v="78" actId="14100"/>
        <pc:sldMkLst>
          <pc:docMk/>
          <pc:sldMk cId="0" sldId="260"/>
        </pc:sldMkLst>
        <pc:picChg chg="del">
          <ac:chgData name="SAKET AMAN" userId="f4dd5577-102e-4981-9830-3a97bff820c3" providerId="ADAL" clId="{3A13594B-EDCE-4E50-8D3E-AB45D65F547A}" dt="2026-08-04T06:49:32.910" v="70" actId="478"/>
          <ac:picMkLst>
            <pc:docMk/>
            <pc:sldMk cId="0" sldId="260"/>
            <ac:picMk id="9" creationId="{1050D6BB-F0BA-5C6A-D5C8-8A6E46AD8EBE}"/>
          </ac:picMkLst>
        </pc:picChg>
        <pc:picChg chg="add mod">
          <ac:chgData name="SAKET AMAN" userId="f4dd5577-102e-4981-9830-3a97bff820c3" providerId="ADAL" clId="{3A13594B-EDCE-4E50-8D3E-AB45D65F547A}" dt="2026-08-04T06:50:45.699" v="78" actId="14100"/>
          <ac:picMkLst>
            <pc:docMk/>
            <pc:sldMk cId="0" sldId="260"/>
            <ac:picMk id="10" creationId="{0DAEE5BE-D240-86FE-1778-9DC51A8370AA}"/>
          </ac:picMkLst>
        </pc:picChg>
        <pc:picChg chg="add">
          <ac:chgData name="SAKET AMAN" userId="f4dd5577-102e-4981-9830-3a97bff820c3" providerId="ADAL" clId="{3A13594B-EDCE-4E50-8D3E-AB45D65F547A}" dt="2026-08-04T05:27:51.289" v="6" actId="22"/>
          <ac:picMkLst>
            <pc:docMk/>
            <pc:sldMk cId="0" sldId="260"/>
            <ac:picMk id="11" creationId="{ECECE8A3-7868-C2FE-CCFD-9AB646CB6532}"/>
          </ac:picMkLst>
        </pc:picChg>
      </pc:sldChg>
      <pc:sldChg chg="addSp modSp mod">
        <pc:chgData name="SAKET AMAN" userId="f4dd5577-102e-4981-9830-3a97bff820c3" providerId="ADAL" clId="{3A13594B-EDCE-4E50-8D3E-AB45D65F547A}" dt="2026-08-04T06:47:00.673" v="64" actId="20577"/>
        <pc:sldMkLst>
          <pc:docMk/>
          <pc:sldMk cId="0" sldId="261"/>
        </pc:sldMkLst>
        <pc:spChg chg="mod">
          <ac:chgData name="SAKET AMAN" userId="f4dd5577-102e-4981-9830-3a97bff820c3" providerId="ADAL" clId="{3A13594B-EDCE-4E50-8D3E-AB45D65F547A}" dt="2026-08-04T06:46:48.539" v="54" actId="20577"/>
          <ac:spMkLst>
            <pc:docMk/>
            <pc:sldMk cId="0" sldId="261"/>
            <ac:spMk id="7" creationId="{00000000-0000-0000-0000-000000000000}"/>
          </ac:spMkLst>
        </pc:spChg>
        <pc:spChg chg="mod">
          <ac:chgData name="SAKET AMAN" userId="f4dd5577-102e-4981-9830-3a97bff820c3" providerId="ADAL" clId="{3A13594B-EDCE-4E50-8D3E-AB45D65F547A}" dt="2026-08-04T06:47:00.673" v="64" actId="20577"/>
          <ac:spMkLst>
            <pc:docMk/>
            <pc:sldMk cId="0" sldId="261"/>
            <ac:spMk id="10" creationId="{00000000-0000-0000-0000-000000000000}"/>
          </ac:spMkLst>
        </pc:spChg>
        <pc:picChg chg="add">
          <ac:chgData name="SAKET AMAN" userId="f4dd5577-102e-4981-9830-3a97bff820c3" providerId="ADAL" clId="{3A13594B-EDCE-4E50-8D3E-AB45D65F547A}" dt="2026-08-04T05:27:58.065" v="7" actId="22"/>
          <ac:picMkLst>
            <pc:docMk/>
            <pc:sldMk cId="0" sldId="261"/>
            <ac:picMk id="15" creationId="{7062F238-1DA4-56C2-32AC-81DEA1F4CED4}"/>
          </ac:picMkLst>
        </pc:picChg>
      </pc:sldChg>
      <pc:sldChg chg="addSp mod">
        <pc:chgData name="SAKET AMAN" userId="f4dd5577-102e-4981-9830-3a97bff820c3" providerId="ADAL" clId="{3A13594B-EDCE-4E50-8D3E-AB45D65F547A}" dt="2026-08-04T05:28:00.544" v="8" actId="22"/>
        <pc:sldMkLst>
          <pc:docMk/>
          <pc:sldMk cId="0" sldId="262"/>
        </pc:sldMkLst>
        <pc:picChg chg="add">
          <ac:chgData name="SAKET AMAN" userId="f4dd5577-102e-4981-9830-3a97bff820c3" providerId="ADAL" clId="{3A13594B-EDCE-4E50-8D3E-AB45D65F547A}" dt="2026-08-04T05:28:00.544" v="8" actId="22"/>
          <ac:picMkLst>
            <pc:docMk/>
            <pc:sldMk cId="0" sldId="262"/>
            <ac:picMk id="6" creationId="{C125D8BD-92F7-B1CB-9671-1E030700C54F}"/>
          </ac:picMkLst>
        </pc:picChg>
      </pc:sldChg>
      <pc:sldChg chg="addSp mod">
        <pc:chgData name="SAKET AMAN" userId="f4dd5577-102e-4981-9830-3a97bff820c3" providerId="ADAL" clId="{3A13594B-EDCE-4E50-8D3E-AB45D65F547A}" dt="2026-08-04T05:28:03.106" v="9" actId="22"/>
        <pc:sldMkLst>
          <pc:docMk/>
          <pc:sldMk cId="0" sldId="263"/>
        </pc:sldMkLst>
        <pc:picChg chg="add">
          <ac:chgData name="SAKET AMAN" userId="f4dd5577-102e-4981-9830-3a97bff820c3" providerId="ADAL" clId="{3A13594B-EDCE-4E50-8D3E-AB45D65F547A}" dt="2026-08-04T05:28:03.106" v="9" actId="22"/>
          <ac:picMkLst>
            <pc:docMk/>
            <pc:sldMk cId="0" sldId="263"/>
            <ac:picMk id="7" creationId="{23B35CAC-894E-48BF-28EA-95D57D3495CF}"/>
          </ac:picMkLst>
        </pc:picChg>
      </pc:sldChg>
      <pc:sldChg chg="addSp modSp mod">
        <pc:chgData name="SAKET AMAN" userId="f4dd5577-102e-4981-9830-3a97bff820c3" providerId="ADAL" clId="{3A13594B-EDCE-4E50-8D3E-AB45D65F547A}" dt="2026-08-04T06:48:20.507" v="69" actId="20577"/>
        <pc:sldMkLst>
          <pc:docMk/>
          <pc:sldMk cId="0" sldId="264"/>
        </pc:sldMkLst>
        <pc:spChg chg="mod">
          <ac:chgData name="SAKET AMAN" userId="f4dd5577-102e-4981-9830-3a97bff820c3" providerId="ADAL" clId="{3A13594B-EDCE-4E50-8D3E-AB45D65F547A}" dt="2026-08-04T06:48:20.507" v="69" actId="20577"/>
          <ac:spMkLst>
            <pc:docMk/>
            <pc:sldMk cId="0" sldId="264"/>
            <ac:spMk id="6" creationId="{00000000-0000-0000-0000-000000000000}"/>
          </ac:spMkLst>
        </pc:spChg>
        <pc:picChg chg="add">
          <ac:chgData name="SAKET AMAN" userId="f4dd5577-102e-4981-9830-3a97bff820c3" providerId="ADAL" clId="{3A13594B-EDCE-4E50-8D3E-AB45D65F547A}" dt="2026-08-04T05:28:05.252" v="10" actId="22"/>
          <ac:picMkLst>
            <pc:docMk/>
            <pc:sldMk cId="0" sldId="264"/>
            <ac:picMk id="15" creationId="{74683E00-2DC5-67F2-E272-47452704B522}"/>
          </ac:picMkLst>
        </pc:picChg>
      </pc:sldChg>
      <pc:sldChg chg="addSp mod">
        <pc:chgData name="SAKET AMAN" userId="f4dd5577-102e-4981-9830-3a97bff820c3" providerId="ADAL" clId="{3A13594B-EDCE-4E50-8D3E-AB45D65F547A}" dt="2026-08-04T05:28:07.506" v="11" actId="22"/>
        <pc:sldMkLst>
          <pc:docMk/>
          <pc:sldMk cId="0" sldId="265"/>
        </pc:sldMkLst>
        <pc:picChg chg="add">
          <ac:chgData name="SAKET AMAN" userId="f4dd5577-102e-4981-9830-3a97bff820c3" providerId="ADAL" clId="{3A13594B-EDCE-4E50-8D3E-AB45D65F547A}" dt="2026-08-04T05:28:07.506" v="11" actId="22"/>
          <ac:picMkLst>
            <pc:docMk/>
            <pc:sldMk cId="0" sldId="265"/>
            <ac:picMk id="7" creationId="{3FAEAD82-BB7D-7F88-DE1A-33267AB1C0A7}"/>
          </ac:picMkLst>
        </pc:picChg>
      </pc:sldChg>
      <pc:sldChg chg="addSp mod">
        <pc:chgData name="SAKET AMAN" userId="f4dd5577-102e-4981-9830-3a97bff820c3" providerId="ADAL" clId="{3A13594B-EDCE-4E50-8D3E-AB45D65F547A}" dt="2026-08-04T05:28:10.531" v="12" actId="22"/>
        <pc:sldMkLst>
          <pc:docMk/>
          <pc:sldMk cId="0" sldId="266"/>
        </pc:sldMkLst>
        <pc:picChg chg="add">
          <ac:chgData name="SAKET AMAN" userId="f4dd5577-102e-4981-9830-3a97bff820c3" providerId="ADAL" clId="{3A13594B-EDCE-4E50-8D3E-AB45D65F547A}" dt="2026-08-04T05:28:10.531" v="12" actId="22"/>
          <ac:picMkLst>
            <pc:docMk/>
            <pc:sldMk cId="0" sldId="266"/>
            <ac:picMk id="15" creationId="{EBD816E7-9563-4F52-8CE5-442FF9815534}"/>
          </ac:picMkLst>
        </pc:picChg>
      </pc:sldChg>
      <pc:sldChg chg="addSp del mod">
        <pc:chgData name="SAKET AMAN" userId="f4dd5577-102e-4981-9830-3a97bff820c3" providerId="ADAL" clId="{3A13594B-EDCE-4E50-8D3E-AB45D65F547A}" dt="2026-08-04T06:52:08.181" v="79" actId="47"/>
        <pc:sldMkLst>
          <pc:docMk/>
          <pc:sldMk cId="0" sldId="267"/>
        </pc:sldMkLst>
        <pc:picChg chg="add">
          <ac:chgData name="SAKET AMAN" userId="f4dd5577-102e-4981-9830-3a97bff820c3" providerId="ADAL" clId="{3A13594B-EDCE-4E50-8D3E-AB45D65F547A}" dt="2026-08-04T05:28:14.002" v="13" actId="22"/>
          <ac:picMkLst>
            <pc:docMk/>
            <pc:sldMk cId="0" sldId="267"/>
            <ac:picMk id="25" creationId="{67403E0E-7A57-70CB-E6AC-83365C0C0A04}"/>
          </ac:picMkLst>
        </pc:picChg>
      </pc:sldChg>
      <pc:sldChg chg="addSp mod">
        <pc:chgData name="SAKET AMAN" userId="f4dd5577-102e-4981-9830-3a97bff820c3" providerId="ADAL" clId="{3A13594B-EDCE-4E50-8D3E-AB45D65F547A}" dt="2026-08-04T05:28:17.573" v="14" actId="22"/>
        <pc:sldMkLst>
          <pc:docMk/>
          <pc:sldMk cId="0" sldId="268"/>
        </pc:sldMkLst>
        <pc:picChg chg="add">
          <ac:chgData name="SAKET AMAN" userId="f4dd5577-102e-4981-9830-3a97bff820c3" providerId="ADAL" clId="{3A13594B-EDCE-4E50-8D3E-AB45D65F547A}" dt="2026-08-04T05:28:17.573" v="14" actId="22"/>
          <ac:picMkLst>
            <pc:docMk/>
            <pc:sldMk cId="0" sldId="268"/>
            <ac:picMk id="8" creationId="{3AB7C082-FBDA-A3B7-317B-1997F68BB700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Content Type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091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152-40BC-84D0-08A5F91240B7}"/>
              </c:ext>
            </c:extLst>
          </c:dPt>
          <c:dPt>
            <c:idx val="1"/>
            <c:bubble3D val="0"/>
            <c:spPr>
              <a:solidFill>
                <a:srgbClr val="2B2B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152-40BC-84D0-08A5F91240B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152-40BC-84D0-08A5F91240B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152-40BC-84D0-08A5F91240B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Movies</c:v>
                </c:pt>
                <c:pt idx="1">
                  <c:v>TV Shows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4007</c:v>
                </c:pt>
                <c:pt idx="1">
                  <c:v>1930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152-40BC-84D0-08A5F91240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41414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Revenue ($M)</c:v>
                </c:pt>
              </c:strCache>
            </c:strRef>
          </c:tx>
          <c:spPr>
            <a:solidFill>
              <a:srgbClr val="E50914"/>
            </a:solidFill>
            <a:effectLst/>
          </c:spPr>
          <c:invertIfNegative val="0"/>
          <c:dLbls>
            <c:numFmt formatCode="&quot;$&quot;0.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4141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Music</c:v>
                </c:pt>
                <c:pt idx="1">
                  <c:v>Sci-Fi &amp; Fantasy</c:v>
                </c:pt>
                <c:pt idx="2">
                  <c:v>Romance</c:v>
                </c:pt>
                <c:pt idx="3">
                  <c:v>Comedy</c:v>
                </c:pt>
                <c:pt idx="4">
                  <c:v>Anime</c:v>
                </c:pt>
                <c:pt idx="5">
                  <c:v>Drama</c:v>
                </c:pt>
                <c:pt idx="6">
                  <c:v>Action &amp; Adv.</c:v>
                </c:pt>
                <c:pt idx="7">
                  <c:v>Kids &amp; Family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16.72</c:v>
                </c:pt>
                <c:pt idx="1">
                  <c:v>16.399999999999999</c:v>
                </c:pt>
                <c:pt idx="2">
                  <c:v>13.19</c:v>
                </c:pt>
                <c:pt idx="3">
                  <c:v>12.31</c:v>
                </c:pt>
                <c:pt idx="4">
                  <c:v>11.69</c:v>
                </c:pt>
                <c:pt idx="5">
                  <c:v>11.64</c:v>
                </c:pt>
                <c:pt idx="6">
                  <c:v>11.45</c:v>
                </c:pt>
                <c:pt idx="7">
                  <c:v>11.12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627-4955-ABF5-E6551069AFB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8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Avg Box Revenue ($M)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IMDb Rating</c:v>
                </c:pt>
              </c:strCache>
            </c:strRef>
          </c:tx>
          <c:spPr>
            <a:solidFill>
              <a:srgbClr val="8C061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0AC-411C-BEC1-E269DC97495F}"/>
              </c:ext>
            </c:extLst>
          </c:dPt>
          <c:dPt>
            <c:idx val="1"/>
            <c:invertIfNegative val="0"/>
            <c:bubble3D val="0"/>
            <c:spPr>
              <a:solidFill>
                <a:srgbClr val="E5091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0AC-411C-BEC1-E269DC97495F}"/>
              </c:ext>
            </c:extLst>
          </c:dPt>
          <c:dPt>
            <c:idx val="2"/>
            <c:invertIfNegative val="0"/>
            <c:bubble3D val="0"/>
            <c:spPr>
              <a:solidFill>
                <a:srgbClr val="E5091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0AC-411C-BEC1-E269DC97495F}"/>
              </c:ext>
            </c:extLst>
          </c:dPt>
          <c:dPt>
            <c:idx val="3"/>
            <c:invertIfNegative val="0"/>
            <c:bubble3D val="0"/>
            <c:spPr>
              <a:solidFill>
                <a:srgbClr val="E5091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0AC-411C-BEC1-E269DC97495F}"/>
              </c:ext>
            </c:extLst>
          </c:dPt>
          <c:dPt>
            <c:idx val="4"/>
            <c:invertIfNegative val="0"/>
            <c:bubble3D val="0"/>
            <c:spPr>
              <a:solidFill>
                <a:srgbClr val="E5091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0AC-411C-BEC1-E269DC97495F}"/>
              </c:ext>
            </c:extLst>
          </c:dPt>
          <c:dPt>
            <c:idx val="5"/>
            <c:invertIfNegative val="0"/>
            <c:bubble3D val="0"/>
            <c:spPr>
              <a:solidFill>
                <a:srgbClr val="E5091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F0AC-411C-BEC1-E269DC97495F}"/>
              </c:ext>
            </c:extLst>
          </c:dPt>
          <c:dPt>
            <c:idx val="6"/>
            <c:invertIfNegative val="0"/>
            <c:bubble3D val="0"/>
            <c:spPr>
              <a:solidFill>
                <a:srgbClr val="E5091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F0AC-411C-BEC1-E269DC97495F}"/>
              </c:ext>
            </c:extLst>
          </c:dPt>
          <c:dPt>
            <c:idx val="7"/>
            <c:invertIfNegative val="0"/>
            <c:bubble3D val="0"/>
            <c:spPr>
              <a:solidFill>
                <a:srgbClr val="E5091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F0AC-411C-BEC1-E269DC97495F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4141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Sports</c:v>
                </c:pt>
                <c:pt idx="1">
                  <c:v>Comedy</c:v>
                </c:pt>
                <c:pt idx="2">
                  <c:v>Drama</c:v>
                </c:pt>
                <c:pt idx="3">
                  <c:v>Crime</c:v>
                </c:pt>
                <c:pt idx="4">
                  <c:v>Kids &amp; Family</c:v>
                </c:pt>
                <c:pt idx="5">
                  <c:v>Action &amp; Adv.</c:v>
                </c:pt>
                <c:pt idx="6">
                  <c:v>Horror</c:v>
                </c:pt>
                <c:pt idx="7">
                  <c:v>Romance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5.9</c:v>
                </c:pt>
                <c:pt idx="1">
                  <c:v>6.47</c:v>
                </c:pt>
                <c:pt idx="2">
                  <c:v>6.49</c:v>
                </c:pt>
                <c:pt idx="3">
                  <c:v>6.54</c:v>
                </c:pt>
                <c:pt idx="4">
                  <c:v>6.56</c:v>
                </c:pt>
                <c:pt idx="5">
                  <c:v>6.58</c:v>
                </c:pt>
                <c:pt idx="6">
                  <c:v>6.59</c:v>
                </c:pt>
                <c:pt idx="7">
                  <c:v>6.63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F0AC-411C-BEC1-E269DC9749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.8"/>
          <c:min val="5.5"/>
        </c:scaling>
        <c:delete val="0"/>
        <c:axPos val="b"/>
        <c:majorGridlines>
          <c:spPr>
            <a:ln w="12700" cap="flat">
              <a:solidFill>
                <a:srgbClr val="E8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Titles</c:v>
                </c:pt>
              </c:strCache>
            </c:strRef>
          </c:tx>
          <c:spPr>
            <a:solidFill>
              <a:srgbClr val="E5091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Mexico</c:v>
                </c:pt>
                <c:pt idx="1">
                  <c:v>Germany</c:v>
                </c:pt>
                <c:pt idx="2">
                  <c:v>South Korea</c:v>
                </c:pt>
                <c:pt idx="3">
                  <c:v>Spain</c:v>
                </c:pt>
                <c:pt idx="4">
                  <c:v>Japan</c:v>
                </c:pt>
                <c:pt idx="5">
                  <c:v>France</c:v>
                </c:pt>
                <c:pt idx="6">
                  <c:v>Canada</c:v>
                </c:pt>
                <c:pt idx="7">
                  <c:v>United Kingdom</c:v>
                </c:pt>
                <c:pt idx="8">
                  <c:v>India</c:v>
                </c:pt>
                <c:pt idx="9">
                  <c:v>United States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126</c:v>
                </c:pt>
                <c:pt idx="1">
                  <c:v>138</c:v>
                </c:pt>
                <c:pt idx="2">
                  <c:v>163</c:v>
                </c:pt>
                <c:pt idx="3">
                  <c:v>178</c:v>
                </c:pt>
                <c:pt idx="4">
                  <c:v>222</c:v>
                </c:pt>
                <c:pt idx="5">
                  <c:v>259</c:v>
                </c:pt>
                <c:pt idx="6">
                  <c:v>300</c:v>
                </c:pt>
                <c:pt idx="7">
                  <c:v>564</c:v>
                </c:pt>
                <c:pt idx="8">
                  <c:v>793</c:v>
                </c:pt>
                <c:pt idx="9">
                  <c:v>2432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676-498E-B3DF-39D56A0939D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8E8E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3A3A3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8E8E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414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4141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Titles Added</c:v>
                </c:pt>
              </c:strCache>
            </c:strRef>
          </c:tx>
          <c:spPr>
            <a:solidFill>
              <a:srgbClr val="E50914">
                <a:alpha val="35000"/>
              </a:srgbClr>
            </a:solidFill>
            <a:effectLst/>
          </c:spPr>
          <c:cat>
            <c:strRef>
              <c:f>Sheet1!$A$2:$A$10</c:f>
              <c:strCache>
                <c:ptCount val="9"/>
                <c:pt idx="0">
                  <c:v>2011</c:v>
                </c:pt>
                <c:pt idx="1">
                  <c:v>2012</c:v>
                </c:pt>
                <c:pt idx="2">
                  <c:v>2013</c:v>
                </c:pt>
                <c:pt idx="3">
                  <c:v>2014</c:v>
                </c:pt>
                <c:pt idx="4">
                  <c:v>2015</c:v>
                </c:pt>
                <c:pt idx="5">
                  <c:v>2016</c:v>
                </c:pt>
                <c:pt idx="6">
                  <c:v>2017</c:v>
                </c:pt>
                <c:pt idx="7">
                  <c:v>2018</c:v>
                </c:pt>
                <c:pt idx="8">
                  <c:v>2019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</c:v>
                </c:pt>
                <c:pt idx="1">
                  <c:v>7</c:v>
                </c:pt>
                <c:pt idx="2">
                  <c:v>9</c:v>
                </c:pt>
                <c:pt idx="3">
                  <c:v>19</c:v>
                </c:pt>
                <c:pt idx="4">
                  <c:v>74</c:v>
                </c:pt>
                <c:pt idx="5">
                  <c:v>412</c:v>
                </c:pt>
                <c:pt idx="6">
                  <c:v>1184</c:v>
                </c:pt>
                <c:pt idx="7">
                  <c:v>1629</c:v>
                </c:pt>
                <c:pt idx="8">
                  <c:v>1843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D6-4325-B0AF-FD52B7C406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Availability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091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562-4267-8CA8-E2AFBCE4A0C4}"/>
              </c:ext>
            </c:extLst>
          </c:dPt>
          <c:dPt>
            <c:idx val="1"/>
            <c:bubble3D val="0"/>
            <c:spPr>
              <a:solidFill>
                <a:srgbClr val="2B2B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562-4267-8CA8-E2AFBCE4A0C4}"/>
              </c:ext>
            </c:extLst>
          </c:dPt>
          <c:dPt>
            <c:idx val="2"/>
            <c:bubble3D val="0"/>
            <c:spPr>
              <a:solidFill>
                <a:srgbClr val="8A8A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562-4267-8CA8-E2AFBCE4A0C4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562-4267-8CA8-E2AFBCE4A0C4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562-4267-8CA8-E2AFBCE4A0C4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562-4267-8CA8-E2AFBCE4A0C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Available</c:v>
                </c:pt>
                <c:pt idx="1">
                  <c:v>Removed</c:v>
                </c:pt>
                <c:pt idx="2">
                  <c:v>Leaving Soon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4855</c:v>
                </c:pt>
                <c:pt idx="1">
                  <c:v>724</c:v>
                </c:pt>
                <c:pt idx="2">
                  <c:v>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562-4267-8CA8-E2AFBCE4A0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41414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16452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E T F L I X   C O N T E N T   A N A L Y T I C 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107259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Exploring the Netflix Catalog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8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capstone project on the Netflix global catalog — 5,837 titles, 72 countries, cleaned in Excel and visualized in Power BI.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800600"/>
            <a:ext cx="5394960" cy="1417320"/>
          </a:xfrm>
          <a:prstGeom prst="rect">
            <a:avLst/>
          </a:prstGeom>
          <a:solidFill>
            <a:srgbClr val="141414"/>
          </a:solidFill>
          <a:ln w="12700">
            <a:solidFill>
              <a:srgbClr val="2B2B2B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495604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534924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Saket Aman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66160" y="534924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Sourish Mukherjee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6355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Cleaning: Microsoft Excel   |   Dashboarding: Power BI</a:t>
            </a: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315FAA3-7ED1-4304-0A17-DCC319C75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We Built This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1704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709928"/>
            <a:ext cx="585216" cy="585216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7099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8" dirty="0"/>
          </a:p>
        </p:txBody>
      </p:sp>
      <p:sp>
        <p:nvSpPr>
          <p:cNvPr id="7" name="Text 5"/>
          <p:cNvSpPr/>
          <p:nvPr/>
        </p:nvSpPr>
        <p:spPr>
          <a:xfrm>
            <a:off x="1737360" y="1554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Understand the Catalog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37360" y="1947672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down 5,837 Netflix titles by genre, type, rating and revenue to see what actually makes up the platform.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11064240" cy="11704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68680" y="3044952"/>
            <a:ext cx="585216" cy="585216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304495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8" dirty="0"/>
          </a:p>
        </p:txBody>
      </p:sp>
      <p:sp>
        <p:nvSpPr>
          <p:cNvPr id="12" name="Text 10"/>
          <p:cNvSpPr/>
          <p:nvPr/>
        </p:nvSpPr>
        <p:spPr>
          <a:xfrm>
            <a:off x="1737360" y="288950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Track Content Health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37360" y="328269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what's Available, Leaving Soon or Removed — and whether quality plays a role in what gets pulled.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087368"/>
            <a:ext cx="11064240" cy="11704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8680" y="4379976"/>
            <a:ext cx="585216" cy="585216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4379976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8" dirty="0"/>
          </a:p>
        </p:txBody>
      </p:sp>
      <p:sp>
        <p:nvSpPr>
          <p:cNvPr id="17" name="Text 15"/>
          <p:cNvSpPr/>
          <p:nvPr/>
        </p:nvSpPr>
        <p:spPr>
          <a:xfrm>
            <a:off x="1737360" y="422452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Reveal Global Reach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37360" y="46177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production countries to show how far beyond the US Netflix's content engine really runs.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422392"/>
            <a:ext cx="11064240" cy="11704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68680" y="5715000"/>
            <a:ext cx="585216" cy="585216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57150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8" dirty="0"/>
          </a:p>
        </p:txBody>
      </p:sp>
      <p:sp>
        <p:nvSpPr>
          <p:cNvPr id="22" name="Text 20"/>
          <p:cNvSpPr/>
          <p:nvPr/>
        </p:nvSpPr>
        <p:spPr>
          <a:xfrm>
            <a:off x="1737360" y="555955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Turn Data into a Tool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37360" y="5952744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everything into a single interactive Power BI dashboard that answers questions in seconds, not spreadsheets.</a:t>
            </a:r>
            <a:endParaRPr lang="en-US" sz="125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C3D77BA-1889-CEF4-CEC0-B85CF5BA31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Pipeline: Excel to Power BI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514600" cy="3566160"/>
          </a:xfrm>
          <a:prstGeom prst="rect">
            <a:avLst/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14600" cy="777240"/>
          </a:xfrm>
          <a:prstGeom prst="rect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Raw Dataset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catalog export — 5,837 rows x 15 fields: titles, cast, country, ratings, revenue, availability.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44952" y="3337560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383280" y="1874520"/>
            <a:ext cx="2514600" cy="3566160"/>
          </a:xfrm>
          <a:prstGeom prst="rect">
            <a:avLst/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83280" y="1874520"/>
            <a:ext cx="2514600" cy="777240"/>
          </a:xfrm>
          <a:prstGeom prst="rect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9202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566160" y="27889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Excel Cleaning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6160" y="329184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nulls in director/cast/country, standardized dates, split multi-value fields, parsed duration into minutes &amp; seasons.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79592" y="3337560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17920" y="1874520"/>
            <a:ext cx="2514600" cy="3566160"/>
          </a:xfrm>
          <a:prstGeom prst="rect">
            <a:avLst/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17920" y="1874520"/>
            <a:ext cx="2514600" cy="777240"/>
          </a:xfrm>
          <a:prstGeom prst="rect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217920" y="19202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400800" y="27889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Power BI Modeling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29184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measures (Avg Revenue, Avg Rating), relationships and DAX calculations on top of the cleaned table.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14232" y="3337560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052560" y="1874520"/>
            <a:ext cx="2514600" cy="3566160"/>
          </a:xfrm>
          <a:prstGeom prst="rect">
            <a:avLst/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052560" y="1874520"/>
            <a:ext cx="2514600" cy="777240"/>
          </a:xfrm>
          <a:prstGeom prst="rect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052560" y="19202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235440" y="27889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Interactive Dashboard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35440" y="329184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 KPI cards, genre/country breakdowns, director rankings and a year-over-year trend view.</a:t>
            </a:r>
            <a:endParaRPr lang="en-US" sz="11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F1A9558-DA13-E031-A2DA-B0D9E52AD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SNAPSHOT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We Were Working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35204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5,837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TITLES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5204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63440" y="18288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50914"/>
                </a:solidFill>
                <a:latin typeface="Bookman Old Style" pitchFamily="34" charset="0"/>
              </a:rPr>
              <a:t>72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63440" y="27432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REPRESENTED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2440" y="1600200"/>
            <a:ext cx="35204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12480" y="18288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412480" y="27432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GENRES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3794760"/>
            <a:ext cx="35204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402336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1925–2026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YEAR SPAN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43400" y="3794760"/>
            <a:ext cx="35204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402336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3,939 / 1,898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663440" y="49377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 / TV SHOWS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92440" y="3794760"/>
            <a:ext cx="35204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80" y="402336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6.51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49377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IMDB RATING</a:t>
            </a:r>
            <a:endParaRPr lang="en-US" sz="125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4426F9E-EAB5-A9B2-343C-8CA53620C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Movies Dominate the Catalog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554480"/>
          <a:ext cx="51206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737360"/>
            <a:ext cx="5486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0" y="184708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67.5%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0" y="22402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titles are Movies (3,939) — more than double the TV Show count.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3154680"/>
            <a:ext cx="5486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0" y="326440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32.5%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TV Shows (1,898), skewing heavily toward single-season releases.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26480" y="4572000"/>
            <a:ext cx="5486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0" y="46817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0" y="507492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and licensing strategy should weight movie decisions more heavily — they drive both catalog volume and revenue.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062F238-1DA4-56C2-32AC-81DEA1F4CE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Niche Genres Earn More Per Title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1106424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125D8BD-92F7-B1CB-9671-1E030700C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Ratings Are Remarkably Even Across Genres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1106424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 (5.90) is the one clear outlier — every other genre clusters within half a point of the 6.51 catalog average.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B35CAC-894E-48BF-28EA-95D57D3495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Global Catalog, US-Anchored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7315200" cy="5029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737360"/>
            <a:ext cx="3474720" cy="1417320"/>
          </a:xfrm>
          <a:prstGeom prst="rect">
            <a:avLst/>
          </a:prstGeom>
          <a:solidFill>
            <a:srgbClr val="2B2B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412480" y="1874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50914"/>
                </a:solidFill>
                <a:latin typeface="Bookman Old Style" pitchFamily="34" charset="0"/>
              </a:rPr>
              <a:t>72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412480" y="2359152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contribute at least one title to the catalog.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183880" y="3383280"/>
            <a:ext cx="3474720" cy="1417320"/>
          </a:xfrm>
          <a:prstGeom prst="rect">
            <a:avLst/>
          </a:prstGeom>
          <a:solidFill>
            <a:srgbClr val="2B2B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41248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41%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412480" y="4005072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titles originate in the United States — the largest single source.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83880" y="5029200"/>
            <a:ext cx="3474720" cy="1417320"/>
          </a:xfrm>
          <a:prstGeom prst="rect">
            <a:avLst/>
          </a:prstGeom>
          <a:solidFill>
            <a:srgbClr val="2B2B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412480" y="5166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India + UK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412480" y="5650992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 strong secondary hub, together outpacing every other country combined outside the US.</a:t>
            </a:r>
            <a:endParaRPr lang="en-US" sz="11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4683E00-2DC5-67F2-E272-47452704B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Acquisitions Surged 2015–2019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1106424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74 titles added in 2015 to 1,843 in 2019 — a 24x jump, tracking Netflix's global content-investment ramp-up. (2020–2026 records are sparse in this extract and excluded here for a clean read.)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AEAD82-BB7D-7F88-DE1A-33267AB1C0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in 5 Titles Has Left — or Is Leaving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554480"/>
          <a:ext cx="51206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737360"/>
            <a:ext cx="5486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0" y="184708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81.8%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0" y="22402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catalog (4,855 titles) is currently Available.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3154680"/>
            <a:ext cx="5486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0" y="326440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18.2%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already left or is scheduled to — 724 Removed, 358 Leaving Soon.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26480" y="4572000"/>
            <a:ext cx="5486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0" y="46817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509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Not a quality issue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0" y="507492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titles average 6.57 and Leaving Soon titles average 6.60 — both above the platform average. Churn tracks licensing, not ratings.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D816E7-9563-4F52-8CE5-442FF9815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Everything, on One Screen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90372" y="1051263"/>
            <a:ext cx="10808208" cy="5806737"/>
          </a:xfrm>
          <a:prstGeom prst="rect">
            <a:avLst/>
          </a:prstGeom>
          <a:solidFill>
            <a:srgbClr val="2B2B2B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5236" y="1371601"/>
            <a:ext cx="10698480" cy="54864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5236" y="429359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screenshot to be added here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7992827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8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in Power BI — KPI cards, genre/revenue chart, director ranking, year trend and country breakdown, all cross-filtered live.</a:t>
            </a:r>
            <a:endParaRPr lang="en-US" sz="1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ECE8A3-7868-C2FE-CCFD-9AB646CB6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AEE5BE-D240-86FE-1778-9DC51A837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1017344"/>
            <a:ext cx="10698480" cy="57923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3429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5394960" cy="1188720"/>
          </a:xfrm>
          <a:prstGeom prst="rect">
            <a:avLst/>
          </a:prstGeom>
          <a:solidFill>
            <a:srgbClr val="141414"/>
          </a:solidFill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4526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Saket Aman   ·   Sourish Mukherjee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48920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Content Analytics — Excel + Power BI</a:t>
            </a:r>
            <a:endParaRPr lang="en-US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B7C082-FBDA-A3B7-317B-1997F68BB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46" y="9526"/>
            <a:ext cx="1884706" cy="5509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654</Words>
  <Application>Microsoft Office PowerPoint</Application>
  <PresentationFormat>Widescreen</PresentationFormat>
  <Paragraphs>110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SAKET AMAN</cp:lastModifiedBy>
  <cp:revision>2</cp:revision>
  <dcterms:created xsi:type="dcterms:W3CDTF">2026-08-03T18:39:04Z</dcterms:created>
  <dcterms:modified xsi:type="dcterms:W3CDTF">2026-08-04T06:52:12Z</dcterms:modified>
</cp:coreProperties>
</file>